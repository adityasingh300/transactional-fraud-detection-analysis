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D59"/>
                </a:solidFill>
              </a:defRPr>
            </a:pPr>
            <a:r>
              <a:t>Transactional Fraud Detection Analysis</a:t>
            </a:r>
          </a:p>
          <a:p>
            <a:pPr>
              <a:defRPr sz="1500">
                <a:solidFill>
                  <a:srgbClr val="787878"/>
                </a:solidFill>
              </a:defRPr>
            </a:pPr>
            <a:r>
              <a:t>Machine Learning, SQL Analytics &amp; Real-Time Risk Intelligence</a:t>
            </a:r>
            <a:br/>
            <a:r>
              <a:t>Internship Project Presentation |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End-to-End Financial Transaction Security Framework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Full Pipeline: Data Profiling, SQLite Analytics, ML Modeling, and Streamlit Dashboard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Trained on 284,807 Real Transactions from Kaggle / ULB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D59"/>
                </a:solidFill>
              </a:defRPr>
            </a:pPr>
            <a:r>
              <a:t>The Business Problem &amp; Industry Context</a:t>
            </a:r>
          </a:p>
          <a:p>
            <a:pPr>
              <a:defRPr sz="1500">
                <a:solidFill>
                  <a:srgbClr val="787878"/>
                </a:solidFill>
              </a:defRPr>
            </a:pPr>
            <a:r>
              <a:t>Balancing Financial Loss Prevention with Frictionless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Multi-Billion Dollar Impact: Financial fraud accounts for tens of billions in annual dispute &amp; chargeback losses.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The Needle in the Haystack: Fraud comprises less than 0.2% of total transaction stream.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The False Decline Threat: Overly sensitive fraud rules cause false declines, embarrassing customers and losing revenue.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Project Goal: Engineer a high-precision, high-recall detection engine that minimizes friction while catching fraud.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D59"/>
                </a:solidFill>
              </a:defRPr>
            </a:pPr>
            <a:r>
              <a:t>Project Objectives &amp; Architecture</a:t>
            </a:r>
          </a:p>
          <a:p>
            <a:pPr>
              <a:defRPr sz="1500">
                <a:solidFill>
                  <a:srgbClr val="787878"/>
                </a:solidFill>
              </a:defRPr>
            </a:pPr>
            <a:r>
              <a:t>Five Core Technical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1. Data Profiling &amp; Hygiene: Audit 284,807 transactions without data loss or target leakage.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2. SQL Analytics: Construct SQLite database for parameterized monetary and hourly queries.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3. Exploratory Data Analysis: Identify monetary, diurnal, and latent feature patterns.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4. Machine Learning Pipeline: Train Logistic Regression and Random Forest using balanced weighting.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5. Interactive Deployment: Deliver Streamlit monitoring dashboard with live transaction scoring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D59"/>
                </a:solidFill>
              </a:defRPr>
            </a:pPr>
            <a:r>
              <a:t>Dataset Overview &amp; Class Imbalance</a:t>
            </a:r>
          </a:p>
          <a:p>
            <a:pPr>
              <a:defRPr sz="1500">
                <a:solidFill>
                  <a:srgbClr val="787878"/>
                </a:solidFill>
              </a:defRPr>
            </a:pPr>
            <a:r>
              <a:t>Understanding the Extreme Skewness in Real Financial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Corpus Size: 284,807 transactions spanning 48 hours (172,792 seconds).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Target Distribution: 284,315 Legitimate (99.827%) vs. 492 Fraudulent (0.173%).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Extreme Imbalance Ratio: Exactly 1 fraud for every 578 legitimate transactions.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Feature Set: 28 PCA-transformed latent components (V1-V28), plus Time and Amount.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Evaluation Requirement: Accuracy is meaningless (99.83% naive baseline); PR-AUC and Recall are paramount.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D59"/>
                </a:solidFill>
              </a:defRPr>
            </a:pPr>
            <a:r>
              <a:t>Data Cleaning &amp; SQLite Relational Analytics</a:t>
            </a:r>
          </a:p>
          <a:p>
            <a:pPr>
              <a:defRPr sz="1500">
                <a:solidFill>
                  <a:srgbClr val="787878"/>
                </a:solidFill>
              </a:defRPr>
            </a:pPr>
            <a:r>
              <a:t>Auditing Data Integrity and Querying Financial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Data Hygiene: Exactly 0 missing values and 0 infinite values across all 31 columns.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Duplicate Audit: 1,081 duplicate rows identified containing 32 fraud records—retained to preserve card swipe retry patterns.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Total Transaction Volume: ,162,590.01 across corpus; Total Fraud Loss: ,127.97.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Monetary Comparison: Overall Average: .35; Fraud Mean: .21; Legit Mean: .29.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High Value Risk: Transactions between - show highest fraud concentration (149 cases).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D59"/>
                </a:solidFill>
              </a:defRPr>
            </a:pPr>
            <a:r>
              <a:t>Key Exploratory Findings &amp; Behavioral Patterns</a:t>
            </a:r>
          </a:p>
          <a:p>
            <a:pPr>
              <a:defRPr sz="1500">
                <a:solidFill>
                  <a:srgbClr val="787878"/>
                </a:solidFill>
              </a:defRPr>
            </a:pPr>
            <a:r>
              <a:t>Uncovering When and How Fraud Occurs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Late-Night Diurnal Surge: Legitimate volume drops between 1 AM and 5 AM as users sleep.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Peak Fraud Rate: Spikes to 1.713% at 2:00 AM (an almost 10x multiplier above baseline!).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Monetary Bimodal Strategy: Micro-charges (.00) for balance testing, followed by large thefts up to ,125.87.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Top Discriminative Negative Signals: V17 (r = -0.327), V14 (r = -0.303), V12 (r = -0.261).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Top Discriminative Positive Signals: V11 (r = +0.155), V4 (r = +0.133).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D59"/>
                </a:solidFill>
              </a:defRPr>
            </a:pPr>
            <a:r>
              <a:t>Feature Engineering &amp; Leak-Free Pipeline</a:t>
            </a:r>
          </a:p>
          <a:p>
            <a:pPr>
              <a:defRPr sz="1500">
                <a:solidFill>
                  <a:srgbClr val="787878"/>
                </a:solidFill>
              </a:defRPr>
            </a:pPr>
            <a:r>
              <a:t>Transforming Raw Temporal and Monetary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Hour_of_Day Feature: Derived via (Time // 3600) % 24 to capture cyclical diurnal risk.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Log_Amount Feature: log1p(Amount) normalization to compress severe monetary skewness.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Scikit-Learn Pipeline: Integrated into unified ColumnTransformer with RobustScaler and StandardScaler.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Strict Featurization Order: Zero data leakage—all scalers fit exclusively on training split.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Customer Velocity Note: Explicitly avoided synthetic customer IDs to maintain data integrity.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D59"/>
                </a:solidFill>
              </a:defRPr>
            </a:pPr>
            <a:r>
              <a:t>Machine Learning Model Benchmarking</a:t>
            </a:r>
          </a:p>
          <a:p>
            <a:pPr>
              <a:defRPr sz="1500">
                <a:solidFill>
                  <a:srgbClr val="787878"/>
                </a:solidFill>
              </a:defRPr>
            </a:pPr>
            <a:r>
              <a:t>Evaluating Baseline Logistic Regression vs. Comparison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Test Partition: 56,962 transactions (98 true frauds) evaluated on independent test split.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Baseline Logistic Regression: Recall: 90.82% (caught 89/98), Precision: 5.63%, False Alarms: 1,492.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Comparison Random Forest: Recall: 81.63% (caught 80/98), Precision: 75.47%, False Alarms: 26.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PR-AUC Benchmark: Random Forest achieved 0.8433 PR-AUC vs. 0.7225 for Logistic Regression.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Operational Trade-off: Random Forest eliminates 98.3% of false alarms, saving millions in review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D59"/>
                </a:solidFill>
              </a:defRPr>
            </a:pPr>
            <a:r>
              <a:t>Interactive Dashboard &amp; Strategic Recommendations</a:t>
            </a:r>
          </a:p>
          <a:p>
            <a:pPr>
              <a:defRPr sz="1500">
                <a:solidFill>
                  <a:srgbClr val="787878"/>
                </a:solidFill>
              </a:defRPr>
            </a:pPr>
            <a:r>
              <a:t>Deploying Analytics into Live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Streamlit Dashboard: Multi-page UI with Executive KPIs, Transaction Explorer, and Real-Time Scoring sandbox.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Three-Tier Risk Matrix: Tier 1 (&lt;30%): Auto-approve (99.5%); Tier 2 (30-70%): Step-up SMS OTP; Tier 3 (&gt;=70%): Auto-block.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Dynamic Nighttime Scrutiny: Heighten threshold sensitivity between 2:00 AM and 4:00 AM for transactions &gt;.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Operational Efficiency: Random Forest delivers high precision (75.5%) with only 26 false alarms across 57k transactions.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D59"/>
                </a:solidFill>
              </a:defRPr>
            </a:pPr>
            <a:r>
              <a:t>Conclusion, Quality Assurance &amp; Future Work</a:t>
            </a:r>
          </a:p>
          <a:p>
            <a:pPr>
              <a:defRPr sz="1500">
                <a:solidFill>
                  <a:srgbClr val="787878"/>
                </a:solidFill>
              </a:defRPr>
            </a:pPr>
            <a:r>
              <a:t>Complete Delivery of Internship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Full Reproducibility: Master script run_project.py executes all stages end-to-end.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Automated Testing: 8 out of 8 pytest validation tests passing with 100% test coverage.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Key Competencies Demonstrated: Python, SQL/SQLite, Advanced EDA, Scikit-learn Pipelines, Streamlit UI.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Future Enhancements: Graph database integration for fraud ring detection and Kafka streaming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